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Every message goes through 6 phases: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/>
              <a:t>Decision</a:t>
            </a:r>
            <a:r>
              <a:rPr lang="it"/>
              <a:t> (does it need time/schedule context?) ⇒ small LLM call only on first turn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/>
              <a:t>Context</a:t>
            </a:r>
            <a:r>
              <a:rPr lang="it"/>
              <a:t> (calls get_time/get_schedule)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/>
              <a:t>Planning</a:t>
            </a:r>
            <a:r>
              <a:rPr lang="it"/>
              <a:t> (LLM emits 5-10 concepts)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/>
              <a:t>Retrieval</a:t>
            </a:r>
            <a:r>
              <a:rPr lang="it"/>
              <a:t> (each concept becomes an ARASAAC keyword)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/>
              <a:t>Synset expansion</a:t>
            </a:r>
            <a:r>
              <a:rPr lang="it"/>
              <a:t> (WordNet synonyms)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it"/>
              <a:t>Ranking</a:t>
            </a:r>
            <a:r>
              <a:rPr lang="it"/>
              <a:t> (final window).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For resolve: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t"/>
              <a:t>hyphen = space and separators, couple of generated keywords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t"/>
              <a:t>lemma_alt = lemma on hyphen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/>
              <a:t>hard</a:t>
            </a:r>
            <a:r>
              <a:rPr lang="it"/>
              <a:t> = exact ID match</a:t>
            </a:r>
            <a:br>
              <a:rPr lang="it"/>
            </a:br>
            <a:r>
              <a:rPr b="1" lang="it"/>
              <a:t>soft</a:t>
            </a:r>
            <a:r>
              <a:rPr lang="it"/>
              <a:t> = weighted Jaccard over synset/category/keyword/tag (0.40/0.25/0.25/0.10, threshold 0.3)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/>
              <a:t>pool</a:t>
            </a:r>
            <a:r>
              <a:rPr lang="it"/>
              <a:t> = everything retrieval+synset expansion find</a:t>
            </a:r>
            <a:br>
              <a:rPr lang="it"/>
            </a:br>
            <a:r>
              <a:rPr b="1" lang="it"/>
              <a:t>window</a:t>
            </a:r>
            <a:r>
              <a:rPr lang="it"/>
              <a:t> = what's finally shown.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The retriever beats random by 30-73x: it isn't guessing, it's actually finding the right pictogram before ranking even gets involved.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Between "gold is in the pool" and "gold survives into the shown window," we lose a lot: 40-48% on clear inputs, 56-74% on vague, worse on vague because vaguer input makes the planner emit less precise concepts, so pools are bigger and noisier to rank.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Even when the gold pictogram IS in the pool, ranking buries it below the window cut 35-45% of the time on clear inputs, worse on vague.</a:t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/>
              <a:t>perfect</a:t>
            </a:r>
            <a:r>
              <a:rPr lang="it"/>
              <a:t> = concept text is literally a gold-pictogram keyword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/>
              <a:t>indirect</a:t>
            </a:r>
            <a:r>
              <a:rPr lang="it"/>
              <a:t> = it isn't, though the pictogram still makes sense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Independent proof: measuring ‘did the retriever find ANYTHING relevant to the concept’ instead of the gold specifically nearly doubles the hit rate.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And 52.8% of the annotators' own non-gold candidates are completely unrelated to the gold by these same features: the dataset itself is noisy. </a:t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098030" y="582930"/>
            <a:ext cx="1062990" cy="1062990"/>
          </a:xfrm>
          <a:prstGeom prst="roundRect">
            <a:avLst>
              <a:gd fmla="val 16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549390" y="1611630"/>
            <a:ext cx="857250" cy="857250"/>
          </a:xfrm>
          <a:prstGeom prst="roundRect">
            <a:avLst>
              <a:gd fmla="val 16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7303770" y="2400300"/>
            <a:ext cx="720090" cy="720090"/>
          </a:xfrm>
          <a:prstGeom prst="roundRect">
            <a:avLst>
              <a:gd fmla="val 16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412230" y="3086100"/>
            <a:ext cx="617220" cy="617220"/>
          </a:xfrm>
          <a:prstGeom prst="roundRect">
            <a:avLst>
              <a:gd fmla="val 16000" name="adj"/>
            </a:avLst>
          </a:prstGeom>
          <a:solidFill>
            <a:srgbClr val="E268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7235190" y="3669030"/>
            <a:ext cx="534924" cy="534924"/>
          </a:xfrm>
          <a:prstGeom prst="roundRect">
            <a:avLst>
              <a:gd fmla="val 16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48640" y="1018059"/>
            <a:ext cx="569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Big Data and Text Mining:  Project  (+ proj. work)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11900" y="1481068"/>
            <a:ext cx="72009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it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ARASAAC Agent for </a:t>
            </a:r>
            <a:endParaRPr b="1" i="0" sz="27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it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Pictogram Retrieval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48653" y="2578259"/>
            <a:ext cx="569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AD6"/>
              </a:buClr>
              <a:buSzPts val="1500"/>
              <a:buFont typeface="Cambria"/>
              <a:buNone/>
            </a:pPr>
            <a:r>
              <a:rPr b="0" i="0" lang="it" sz="1500" u="none" cap="none" strike="noStrike">
                <a:solidFill>
                  <a:srgbClr val="BFDAD6"/>
                </a:solidFill>
                <a:latin typeface="Cambria"/>
                <a:ea typeface="Cambria"/>
                <a:cs typeface="Cambria"/>
                <a:sym typeface="Cambria"/>
              </a:rPr>
              <a:t>Architecture &amp; Evaluation Results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48640" y="4686300"/>
            <a:ext cx="5692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E8B"/>
              </a:buClr>
              <a:buSzPts val="900"/>
              <a:buFont typeface="Calibri"/>
              <a:buNone/>
            </a:pPr>
            <a:r>
              <a:rPr b="0" i="0" lang="it" sz="1200" u="none" cap="none" strike="noStrike">
                <a:solidFill>
                  <a:srgbClr val="6E8E8B"/>
                </a:solidFill>
                <a:latin typeface="Calibri"/>
                <a:ea typeface="Calibri"/>
                <a:cs typeface="Calibri"/>
                <a:sym typeface="Calibri"/>
              </a:rPr>
              <a:t>Lorenzo Pellegrino - lorenzo.pellegrino2@studio.unibo.it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PROJECT 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80060" y="493776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Three Pillars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80060" y="1268730"/>
            <a:ext cx="2558034" cy="2983230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1433322" y="1525905"/>
            <a:ext cx="651510" cy="65151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433322" y="1525905"/>
            <a:ext cx="65151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17220" y="2331720"/>
            <a:ext cx="22837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100"/>
              <a:buFont typeface="Courier New"/>
              <a:buNone/>
            </a:pPr>
            <a:r>
              <a:rPr b="0" i="0" lang="it" sz="1100" u="none" cap="none" strike="noStrike">
                <a:solidFill>
                  <a:srgbClr val="5B7C7A"/>
                </a:solidFill>
                <a:latin typeface="Courier New"/>
                <a:ea typeface="Courier New"/>
                <a:cs typeface="Courier New"/>
                <a:sym typeface="Courier New"/>
              </a:rPr>
              <a:t>app/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17220" y="2626614"/>
            <a:ext cx="228371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600"/>
              <a:buFont typeface="Cambria"/>
              <a:buNone/>
            </a:pPr>
            <a:r>
              <a:rPr b="1" i="0" lang="it" sz="16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The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720090" y="3086100"/>
            <a:ext cx="207797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It takes in the natural language inputs and, by using prompts, returns the window of suggested pictograms.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278124" y="1268730"/>
            <a:ext cx="2558034" cy="2983230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231386" y="1525905"/>
            <a:ext cx="651510" cy="65151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231386" y="1525905"/>
            <a:ext cx="65151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15284" y="2331720"/>
            <a:ext cx="22837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100"/>
              <a:buFont typeface="Courier New"/>
              <a:buNone/>
            </a:pPr>
            <a:r>
              <a:rPr b="0" i="0" lang="it" sz="1100" u="none" cap="none" strike="noStrike">
                <a:solidFill>
                  <a:srgbClr val="5B7C7A"/>
                </a:solidFill>
                <a:latin typeface="Courier New"/>
                <a:ea typeface="Courier New"/>
                <a:cs typeface="Courier New"/>
                <a:sym typeface="Courier New"/>
              </a:rPr>
              <a:t>annotation/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15284" y="2626614"/>
            <a:ext cx="228371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600"/>
              <a:buFont typeface="Cambria"/>
              <a:buNone/>
            </a:pPr>
            <a:r>
              <a:rPr b="1" i="0" lang="it" sz="16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The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518154" y="3086100"/>
            <a:ext cx="207797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How the final evaluation dataset was built, starting from the provided datasets.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076188" y="1268730"/>
            <a:ext cx="2558034" cy="2983230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029450" y="1525905"/>
            <a:ext cx="651510" cy="65151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7029450" y="1525905"/>
            <a:ext cx="65151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213348" y="2331720"/>
            <a:ext cx="22837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100"/>
              <a:buFont typeface="Courier New"/>
              <a:buNone/>
            </a:pPr>
            <a:r>
              <a:rPr b="0" i="0" lang="it" sz="1100" u="none" cap="none" strike="noStrike">
                <a:solidFill>
                  <a:srgbClr val="5B7C7A"/>
                </a:solidFill>
                <a:latin typeface="Courier New"/>
                <a:ea typeface="Courier New"/>
                <a:cs typeface="Courier New"/>
                <a:sym typeface="Courier New"/>
              </a:rPr>
              <a:t>eval/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213348" y="2626614"/>
            <a:ext cx="228371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600"/>
              <a:buFont typeface="Cambria"/>
              <a:buNone/>
            </a:pPr>
            <a:r>
              <a:rPr b="1" i="0" lang="it" sz="16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The 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316218" y="3086100"/>
            <a:ext cx="207797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We simulate multiple user-like turns thanks to the dataset. </a:t>
            </a:r>
            <a:endParaRPr b="0" i="0" sz="10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We perform multiple experiments under different models and hyperparameters and then measure retrieval and ranking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80060" y="493776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The Agent: Six Phases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984695" y="1251585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984695" y="1251585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93230" y="1903095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1695069" y="1371600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2302574" y="1251585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302574" y="1251585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011109" y="1903095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3012948" y="1371600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620452" y="1251585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620452" y="1251585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328988" y="1903095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330827" y="1371600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938332" y="1251585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938332" y="1251585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646866" y="1903095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648706" y="1371600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256211" y="1251585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256211" y="1251585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964746" y="1903095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Synset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Expansion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966585" y="1371600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7574089" y="1251585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7574089" y="1251585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7282624" y="1903095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80060" y="2386584"/>
            <a:ext cx="8181594" cy="99441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85800" y="2523744"/>
            <a:ext cx="777011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mbria"/>
              <a:buNone/>
            </a:pPr>
            <a:r>
              <a:rPr b="1" i="0" lang="it" sz="12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Resolve: fallback chain (runs inside Phase 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85800" y="2811780"/>
            <a:ext cx="777011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200"/>
              <a:buFont typeface="Courier New"/>
              <a:buNone/>
            </a:pPr>
            <a:r>
              <a:rPr b="1" i="0" lang="it" sz="1200" u="none" cap="none" strike="noStrike">
                <a:solidFill>
                  <a:srgbClr val="16302F"/>
                </a:solidFill>
                <a:latin typeface="Courier New"/>
                <a:ea typeface="Courier New"/>
                <a:cs typeface="Courier New"/>
                <a:sym typeface="Courier New"/>
              </a:rPr>
              <a:t>exact  →  lemma  →  hyphen  →  lemma_alt  →  token  →  embedding → None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85800" y="3099816"/>
            <a:ext cx="777011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Embedding is cosine similarity against precomputed embeddings of keywords, threshold 0.75.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80060" y="3518154"/>
            <a:ext cx="8181594" cy="120015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85800" y="3655314"/>
            <a:ext cx="777011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mbria"/>
              <a:buNone/>
            </a:pPr>
            <a:r>
              <a:rPr b="1" i="0" lang="it" sz="12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Ranking: two strategies compared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85800" y="3943350"/>
            <a:ext cx="777011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000"/>
              <a:buFont typeface="Calibri"/>
              <a:buChar char="▪"/>
            </a:pPr>
            <a:r>
              <a:rPr b="1" i="0" lang="it" sz="10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sequential_blocks</a:t>
            </a:r>
            <a:r>
              <a:rPr b="0" i="0" lang="it" sz="10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: fills one concept at a time, following the model output order. (risk: the first concept saturates the window)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302F"/>
              </a:buClr>
              <a:buSzPts val="1000"/>
              <a:buFont typeface="Calibri"/>
              <a:buChar char="▪"/>
            </a:pPr>
            <a:r>
              <a:rPr b="1" i="0" lang="it" sz="10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round_robin_weighted</a:t>
            </a:r>
            <a:r>
              <a:rPr b="0" i="0" lang="it" sz="10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: weighted deficit round-robin shares the window instead of letting one concept monopolize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ANNOTATION/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80060" y="493776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Where the Ground Truth Comes From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914400" y="1337310"/>
            <a:ext cx="582930" cy="58293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914400" y="1337310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77190" y="2023110"/>
            <a:ext cx="16573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Merge &amp; Filter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77190" y="2263140"/>
            <a:ext cx="16573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ourier New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ourier New"/>
                <a:ea typeface="Courier New"/>
                <a:cs typeface="Courier New"/>
                <a:sym typeface="Courier New"/>
              </a:rPr>
              <a:t>arasaac_vs_hf_vs_eval.ipynb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42900" y="2503170"/>
            <a:ext cx="172593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Three sources reconciled into </a:t>
            </a:r>
            <a:r>
              <a:rPr b="1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en_eval/</a:t>
            </a: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: keep only sentences whose gold pictogram exists in the merged catalog.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863090" y="1457325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777490" y="1337310"/>
            <a:ext cx="582930" cy="58293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2777490" y="1337310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240280" y="2023110"/>
            <a:ext cx="16573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GPU Annotation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2240280" y="2263140"/>
            <a:ext cx="16573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ourier New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ourier New"/>
                <a:ea typeface="Courier New"/>
                <a:cs typeface="Courier New"/>
                <a:sym typeface="Courier New"/>
              </a:rPr>
              <a:t>cluster_work / SLURM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205990" y="2503170"/>
            <a:ext cx="172593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Qwen2.5-7B-Instruct</a:t>
            </a: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 (4-bit) labels clear/vague phrasing, time of day and a plausible schedule with distractors events, based on the sentence.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726180" y="1457325"/>
            <a:ext cx="4800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500"/>
              <a:buFont typeface="Calibri"/>
              <a:buNone/>
            </a:pPr>
            <a:r>
              <a:rPr b="1" i="0" lang="it" sz="15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640580" y="1337310"/>
            <a:ext cx="582930" cy="58293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640580" y="1337310"/>
            <a:ext cx="5829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103370" y="2023110"/>
            <a:ext cx="16573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Manual QA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103370" y="2263140"/>
            <a:ext cx="16573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ourier New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ourier New"/>
                <a:ea typeface="Courier New"/>
                <a:cs typeface="Courier New"/>
                <a:sym typeface="Courier New"/>
              </a:rPr>
              <a:t>annotation_quality_evaluation.ipynb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069075" y="2503176"/>
            <a:ext cx="1725900" cy="14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1,760 rows checked.</a:t>
            </a:r>
            <a:endParaRPr b="0" i="0" sz="9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The annotation seems realistic and only few corrections seemed necessary:</a:t>
            </a:r>
            <a:endParaRPr b="0" i="0" sz="9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2 manual non-ASCII fixes, 30 time-of-day conflicts caught and corrected.</a:t>
            </a:r>
            <a:endParaRPr b="0" i="0" sz="9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It produces </a:t>
            </a:r>
            <a:r>
              <a:rPr b="1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eval_final.parquet</a:t>
            </a: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412230" y="1337310"/>
            <a:ext cx="2263140" cy="2571750"/>
          </a:xfrm>
          <a:prstGeom prst="roundRect">
            <a:avLst>
              <a:gd fmla="val 3636" name="adj"/>
            </a:avLst>
          </a:prstGeom>
          <a:solidFill>
            <a:srgbClr val="028090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617970" y="1474470"/>
            <a:ext cx="18516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it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Three vocabularies, one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617970" y="1920240"/>
            <a:ext cx="18516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df_local: 13,800 pictograms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DAD6"/>
              </a:buClr>
              <a:buSzPts val="700"/>
              <a:buFont typeface="Calibri"/>
              <a:buNone/>
            </a:pPr>
            <a:r>
              <a:rPr b="0" i="0" lang="it" sz="7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Production catalog, clean.</a:t>
            </a:r>
            <a:endParaRPr b="0" i="0" sz="700" u="none" cap="none" strike="noStrike">
              <a:solidFill>
                <a:srgbClr val="BFDA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DAD6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BFDA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df_hf: 12,474 pictogramss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DAD6"/>
              </a:buClr>
              <a:buSzPts val="700"/>
              <a:buFont typeface="Calibri"/>
              <a:buNone/>
            </a:pPr>
            <a:r>
              <a:rPr b="0" i="0" lang="it" sz="7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HF mirror: 20 duplicate IDs, 1,817 rows with null metadata.</a:t>
            </a:r>
            <a:endParaRPr b="0" i="0" sz="700" u="none" cap="none" strike="noStrike">
              <a:solidFill>
                <a:srgbClr val="BFDA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DAD6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BFDA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df_eval: 2,461 sentences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DAD6"/>
              </a:buClr>
              <a:buSzPts val="700"/>
              <a:buFont typeface="Calibri"/>
              <a:buNone/>
            </a:pPr>
            <a:r>
              <a:rPr b="0" i="0" lang="it" sz="7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Caregiver sentences, gold IDs point at df_hf.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80060" y="4183380"/>
            <a:ext cx="81610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683D"/>
              </a:buClr>
              <a:buSzPts val="1000"/>
              <a:buFont typeface="Calibri"/>
              <a:buNone/>
            </a:pPr>
            <a:r>
              <a:rPr b="1" i="1" lang="it" sz="1000" u="none" cap="none" strike="noStrike">
                <a:solidFill>
                  <a:srgbClr val="E2683D"/>
                </a:solidFill>
                <a:latin typeface="Calibri"/>
                <a:ea typeface="Calibri"/>
                <a:cs typeface="Calibri"/>
                <a:sym typeface="Calibri"/>
              </a:rPr>
              <a:t>Result: the merge makes sure every gold pictogram the eval sentences cite actually exists in the catalog the agent queries.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8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EVAL/: METHODOLOGY + FIRST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80060" y="493776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Does Retrieval Work?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80060" y="1165860"/>
            <a:ext cx="2571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700"/>
              <a:buFont typeface="Cambria"/>
              <a:buNone/>
            </a:pPr>
            <a:r>
              <a:rPr b="1" i="0" lang="it" sz="27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30–73×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82930" y="1700784"/>
            <a:ext cx="236601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pool hit-rate vs. a random 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3291840" y="1165860"/>
            <a:ext cx="2571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700"/>
              <a:buFont typeface="Cambria"/>
              <a:buNone/>
            </a:pPr>
            <a:r>
              <a:rPr b="1" i="0" lang="it" sz="27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–40 / –74%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394710" y="1700784"/>
            <a:ext cx="236601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relative drop: the golds lost from  pool to window (clear / vague)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103620" y="1165860"/>
            <a:ext cx="2571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700"/>
              <a:buFont typeface="Cambria"/>
              <a:buNone/>
            </a:pPr>
            <a:r>
              <a:rPr b="1" i="0" lang="it" sz="27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35–45%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206490" y="1700784"/>
            <a:ext cx="236601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gold-in-pool cases buried below the window cut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80060" y="2148840"/>
            <a:ext cx="81815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Absolute numbers are low partly by design: the agent's context is only time and schedule, and most real communications aren't really plannable.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mages/heatmap_4_1_1_global_overview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467" y="2497500"/>
            <a:ext cx="6240780" cy="212733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891540" y="4648200"/>
            <a:ext cx="735786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Quality heatmap: all model, window, and input-type configs.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EVAL/: ALSO WORTH CHECKING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80060" y="493776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A Few More Signals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14350" y="1426464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88670" y="1303020"/>
            <a:ext cx="7475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It calls tools well.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88670" y="1591056"/>
            <a:ext cx="7338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High recall on knowing when a context tool is needed. Precision is lower and more variable: a safe, over-triggering bias.</a:t>
            </a:r>
            <a:b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NOTE: llama3.2:3b is the exception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14350" y="2489454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88670" y="2366010"/>
            <a:ext cx="7475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Resolve is mostly deterministic.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77275" y="2689837"/>
            <a:ext cx="73380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It leans almost entirely on exact keyword and embedding matches, not on fuzzier fallbacks.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14350" y="3552444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88670" y="3429000"/>
            <a:ext cx="7475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16302F"/>
                </a:solidFill>
                <a:latin typeface="Calibri"/>
                <a:ea typeface="Calibri"/>
                <a:cs typeface="Calibri"/>
                <a:sym typeface="Calibri"/>
              </a:rPr>
              <a:t>It’s fast once warm.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88670" y="3717036"/>
            <a:ext cx="7338060" cy="665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5–15 seconds per turn after the first call. qwen2.5:3b is consistently the fastest model. </a:t>
            </a:r>
            <a:endParaRPr b="0" i="0" sz="10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The frist call is slower as it has to load the model in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88676" y="4526275"/>
            <a:ext cx="595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900"/>
              <a:buFont typeface="Calibri"/>
              <a:buNone/>
            </a:pPr>
            <a:r>
              <a:rPr b="1" i="0" lang="it" sz="12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b="0" i="0" lang="it" sz="12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: same model, same strategy, same notebook: the local run is about 4× faster than Colab.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EVAL/: SECTION 5, DATASET AUDIT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80060" y="493776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6302F"/>
                </a:solidFill>
                <a:latin typeface="Cambria"/>
                <a:ea typeface="Cambria"/>
                <a:cs typeface="Cambria"/>
                <a:sym typeface="Cambria"/>
              </a:rPr>
              <a:t>What Actually Explains the Low Numbers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80060" y="1200150"/>
            <a:ext cx="2434590" cy="1474470"/>
          </a:xfrm>
          <a:prstGeom prst="roundRect">
            <a:avLst>
              <a:gd fmla="val 5581" name="adj"/>
            </a:avLst>
          </a:prstGeom>
          <a:solidFill>
            <a:srgbClr val="E2683D"/>
          </a:solidFill>
          <a:ln>
            <a:noFill/>
          </a:ln>
          <a:effectLst>
            <a:outerShdw blurRad="114300" rotWithShape="0" algn="bl" dir="5400000" dist="38100">
              <a:srgbClr val="0B2E31">
                <a:alpha val="1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80060" y="1371600"/>
            <a:ext cx="2434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it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2–3×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51510" y="2057400"/>
            <a:ext cx="20916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E2D3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FBE2D3"/>
                </a:solidFill>
                <a:latin typeface="Calibri"/>
                <a:ea typeface="Calibri"/>
                <a:cs typeface="Calibri"/>
                <a:sym typeface="Calibri"/>
              </a:rPr>
              <a:t>perfect vs. indirect annotations, every row, every model, no exceptions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120390" y="126873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900"/>
              <a:buFont typeface="Cambria"/>
              <a:buNone/>
            </a:pPr>
            <a:r>
              <a:rPr b="1" i="0" lang="it" sz="19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~90%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223260" y="1700784"/>
            <a:ext cx="165963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of gold annotations are “indirect,” not literal keyword matches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074920" y="126873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900"/>
              <a:buFont typeface="Cambria"/>
              <a:buNone/>
            </a:pPr>
            <a:r>
              <a:rPr b="1" i="0" lang="it" sz="19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7.3% vs. 13.6%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177790" y="1700784"/>
            <a:ext cx="165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gold reachable by exact keyword </a:t>
            </a:r>
            <a:endParaRPr b="0" i="0" sz="8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800" u="none" cap="none" strike="noStrike">
              <a:solidFill>
                <a:srgbClr val="5B7C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gold reachable by the full resolve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7029450" y="126873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900"/>
              <a:buFont typeface="Cambria"/>
              <a:buNone/>
            </a:pPr>
            <a:r>
              <a:rPr b="1" i="0" lang="it" sz="19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52.8%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7132320" y="1700784"/>
            <a:ext cx="165963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of annotators’ non-gold candidates share nothing with the gold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mages/chart_4_2_3_concept_vs_gold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750" y="2812073"/>
            <a:ext cx="6720506" cy="18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>
            <a:off x="1690497" y="4780049"/>
            <a:ext cx="576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Concept-text match (ignoring the gold label entirely) vs. gold-based match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C7A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B7C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/>
          <p:nvPr/>
        </p:nvSpPr>
        <p:spPr>
          <a:xfrm>
            <a:off x="480060" y="28803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480060" y="480060"/>
            <a:ext cx="54864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Bottom 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14350" y="1323594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88670" y="1200150"/>
            <a:ext cx="7749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works. The bottleneck is ground-truth quality.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788670" y="1488186"/>
            <a:ext cx="76123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DAD6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Two independent pieces of evidence: retrieval clears random baseline by 30-73x, and hit-rate nearly doubles when measuring "found anything relevant" instead of the gold specifically.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14350" y="2112264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88670" y="1988820"/>
            <a:ext cx="7749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It’s not the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788670" y="2276856"/>
            <a:ext cx="76123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DAD6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qwen2.5:3b, llama3.2:3b, and granite4:3b-h behave almost identically: the sentence and its annotation drive the score, not the model choice.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14350" y="2900934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88670" y="2777490"/>
            <a:ext cx="7749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it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pick: qwen2.5:3b + round_robin_weighted.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88670" y="3065526"/>
            <a:ext cx="76123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DAD6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The fastest model, and the ranking strategy with the edge, though no single strategy dominates everywhere.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80060" y="4149090"/>
            <a:ext cx="81610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9490"/>
              </a:buClr>
              <a:buSzPts val="1000"/>
              <a:buFont typeface="Calibri"/>
              <a:buNone/>
            </a:pPr>
            <a:r>
              <a:rPr b="0" i="1" lang="it" sz="1300" u="none" cap="none" strike="noStrike">
                <a:solidFill>
                  <a:srgbClr val="6E9490"/>
                </a:solidFill>
                <a:latin typeface="Calibri"/>
                <a:ea typeface="Calibri"/>
                <a:cs typeface="Calibri"/>
                <a:sym typeface="Calibri"/>
              </a:rPr>
              <a:t>Side note: 11 of 30 sentences never score a hit ⇒ roughly half retrieval misses, half ranking misses.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606790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A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BFDAD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